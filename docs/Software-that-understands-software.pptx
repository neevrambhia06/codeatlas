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Host Grotesk Light"/>
      <p:regular r:id="rId201314"/>
    </p:embeddedFont>
    <p:embeddedFont>
      <p:font typeface="Host Grotesk"/>
      <p:regular r:id="rId201315"/>
    </p:embeddedFont>
    <p:embeddedFont>
      <p:font typeface="Host Grotesk Medium"/>
      <p:regular r:id="rId201316"/>
    </p:embeddedFont>
    <p:embeddedFont>
      <p:font typeface="Host Grotesk SemiBold"/>
      <p:regular r:id="rId201317"/>
    </p:embeddedFont>
    <p:embeddedFont>
      <p:font typeface="Host Grotesk Bold"/>
      <p:regular r:id="rId201318"/>
    </p:embeddedFont>
    <p:embeddedFont>
      <p:font typeface="Host Grotesk ExtraBold"/>
      <p:regular r:id="rId201319"/>
    </p:embeddedFont>
    <p:embeddedFont>
      <p:font typeface="Roboto Light"/>
      <p:regular r:id="rId201320"/>
    </p:embeddedFont>
    <p:embeddedFont>
      <p:font typeface="Roboto"/>
      <p:regular r:id="rId201321"/>
    </p:embeddedFont>
    <p:embeddedFont>
      <p:font typeface="Roboto Thin"/>
      <p:regular r:id="rId201322"/>
    </p:embeddedFont>
    <p:embeddedFont>
      <p:font typeface="Roboto ExtraLight"/>
      <p:regular r:id="rId201323"/>
    </p:embeddedFont>
    <p:embeddedFont>
      <p:font typeface="Roboto Medium"/>
      <p:regular r:id="rId201324"/>
    </p:embeddedFont>
    <p:embeddedFont>
      <p:font typeface="Roboto SemiBold"/>
      <p:regular r:id="rId201325"/>
    </p:embeddedFont>
    <p:embeddedFont>
      <p:font typeface="Roboto Bold"/>
      <p:regular r:id="rId201326"/>
    </p:embeddedFont>
    <p:embeddedFont>
      <p:font typeface="Roboto ExtraBold"/>
      <p:regular r:id="rId201327"/>
    </p:embeddedFont>
    <p:embeddedFont>
      <p:font typeface="Roboto Black"/>
      <p:regular r:id="rId20132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Relationship Id="rId201329" Target="fonts/201329.fntdata" Type="http://schemas.openxmlformats.org/officeDocument/2006/relationships/font"/><Relationship Id="rId201330" Target="fonts/201330.fntdata" Type="http://schemas.openxmlformats.org/officeDocument/2006/relationships/font"/><Relationship Id="rId201331" Target="fonts/201331.fntdata" Type="http://schemas.openxmlformats.org/officeDocument/2006/relationships/font"/><Relationship Id="rId201332" Target="fonts/201332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2.png"/><Relationship Id="rId5" Type="http://schemas.openxmlformats.org/officeDocument/2006/relationships/image" Target="../media/image-3-3.svg"/><Relationship Id="rId6" Type="http://schemas.openxmlformats.org/officeDocument/2006/relationships/image" Target="../media/image-3-2.png"/><Relationship Id="rId7" Type="http://schemas.openxmlformats.org/officeDocument/2006/relationships/image" Target="../media/image-3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1.png"/><Relationship Id="rId4" Type="http://schemas.openxmlformats.org/officeDocument/2006/relationships/image" Target="../media/image-7-2.svg"/><Relationship Id="rId5" Type="http://schemas.openxmlformats.org/officeDocument/2006/relationships/image" Target="../media/image-7-1.png"/><Relationship Id="rId6" Type="http://schemas.openxmlformats.org/officeDocument/2006/relationships/image" Target="../media/image-7-2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image" Target="../media/image-7-7.png"/><Relationship Id="rId10" Type="http://schemas.openxmlformats.org/officeDocument/2006/relationships/image" Target="../media/image-7-8.svg"/><Relationship Id="rId11" Type="http://schemas.openxmlformats.org/officeDocument/2006/relationships/image" Target="../media/image-7-11.png"/><Relationship Id="rId12" Type="http://schemas.openxmlformats.org/officeDocument/2006/relationships/slideLayout" Target="../slideLayouts/slideLayout2.xml"/><Relationship Id="rId1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svg"/><Relationship Id="rId4" Type="http://schemas.openxmlformats.org/officeDocument/2006/relationships/image" Target="../media/image-9-4.png"/><Relationship Id="rId5" Type="http://schemas.openxmlformats.org/officeDocument/2006/relationships/image" Target="../media/image-9-5.svg"/><Relationship Id="rId6" Type="http://schemas.openxmlformats.org/officeDocument/2006/relationships/image" Target="../media/image-9-6.png"/><Relationship Id="rId7" Type="http://schemas.openxmlformats.org/officeDocument/2006/relationships/image" Target="../media/image-9-7.svg"/><Relationship Id="rId8" Type="http://schemas.openxmlformats.org/officeDocument/2006/relationships/image" Target="../media/image-9-8.png"/><Relationship Id="rId9" Type="http://schemas.openxmlformats.org/officeDocument/2006/relationships/image" Target="../media/image-9-9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43550" y="0"/>
            <a:ext cx="3600450" cy="51435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25000" y="100000"/>
                </a:lnTo>
                <a:close/>
              </a:path>
            </a:pathLst>
          </a:cu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3290" y="818555"/>
            <a:ext cx="2629793" cy="3506391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96119" y="1114276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CodeAtlas</a:t>
            </a:r>
            <a:endParaRPr lang="en-US" sz="2750" dirty="0"/>
          </a:p>
        </p:txBody>
      </p:sp>
      <p:sp>
        <p:nvSpPr>
          <p:cNvPr id="5" name="Text 1"/>
          <p:cNvSpPr/>
          <p:nvPr/>
        </p:nvSpPr>
        <p:spPr>
          <a:xfrm>
            <a:off x="496119" y="1769864"/>
            <a:ext cx="4722763" cy="18341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Software that understands software.</a:t>
            </a:r>
            <a:endParaRPr lang="en-US" sz="3850" dirty="0"/>
          </a:p>
        </p:txBody>
      </p:sp>
      <p:sp>
        <p:nvSpPr>
          <p:cNvPr id="6" name="Text 2"/>
          <p:cNvSpPr/>
          <p:nvPr/>
        </p:nvSpPr>
        <p:spPr>
          <a:xfrm>
            <a:off x="496119" y="3816623"/>
            <a:ext cx="5179963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Buildathon 2026 – Idea Proposal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00450" cy="5143500"/>
          </a:xfrm>
          <a:prstGeom prst="rect">
            <a:avLst/>
          </a:prstGeom>
          <a:solidFill>
            <a:srgbClr val="D9EDF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42" y="818555"/>
            <a:ext cx="2629793" cy="350639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25119" y="1420118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The Problem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3925119" y="2075706"/>
            <a:ext cx="4722763" cy="16476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Modern software systems are increasingly difficult to understand as they grow. Developers spend </a:t>
            </a:r>
            <a:pPr algn="l" indent="0" marL="0">
              <a:lnSpc>
                <a:spcPct val="125000"/>
              </a:lnSpc>
              <a:spcAft>
                <a:spcPts val="1250"/>
              </a:spcAft>
              <a:buNone/>
            </a:pPr>
            <a:r>
              <a:rPr lang="en-US" sz="1100" b="1" dirty="0">
                <a:solidFill>
                  <a:srgbClr val="384653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days or weeks</a:t>
            </a:r>
            <a:pPr algn="l" indent="0" marL="0">
              <a:lnSpc>
                <a:spcPct val="125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exploring source code, APIs, databases, and outdated documentation before understanding how a system actually works.</a:t>
            </a:r>
            <a:endParaRPr lang="en-US" sz="1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Existing AI tools help write, review, or document code — but they </a:t>
            </a:r>
            <a:pPr algn="l"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384653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do not explain what the software does as a complete business system</a:t>
            </a:r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how users interact with it, or what important business workflows are missing.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69181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Introducing Software Reasoning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284238"/>
            <a:ext cx="2628230" cy="262823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474988" y="1741215"/>
            <a:ext cx="1007046" cy="215354"/>
          </a:xfrm>
          <a:prstGeom prst="roundRect">
            <a:avLst>
              <a:gd name="adj" fmla="val 22119"/>
            </a:avLst>
          </a:prstGeom>
          <a:solidFill>
            <a:srgbClr val="D9EDF2"/>
          </a:solidFill>
          <a:ln/>
        </p:spPr>
      </p:sp>
      <p:sp>
        <p:nvSpPr>
          <p:cNvPr id="5" name="Text 2"/>
          <p:cNvSpPr/>
          <p:nvPr/>
        </p:nvSpPr>
        <p:spPr>
          <a:xfrm>
            <a:off x="3560043" y="1783705"/>
            <a:ext cx="1294135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NEW CATEGORY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3474988" y="2013272"/>
            <a:ext cx="5177582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CodeAtlas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3474988" y="2509391"/>
            <a:ext cx="5177582" cy="977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Instead of analyzing source code line by line, CodeAtlas </a:t>
            </a:r>
            <a:pPr algn="l"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384653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reconstructs the software's business architecture</a:t>
            </a:r>
            <a:pPr algn="l"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by:</a:t>
            </a:r>
            <a:endParaRPr lang="en-US" sz="1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CodeAtlas is not another AI coding assistant. It introduces </a:t>
            </a:r>
            <a:pPr algn="l"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384653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Software Reasoning</a:t>
            </a:r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a new category focused on </a:t>
            </a:r>
            <a:pPr algn="l"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384653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understanding software</a:t>
            </a:r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rather than generating code.</a:t>
            </a:r>
            <a:endParaRPr lang="en-US" sz="11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9250" y="4235797"/>
            <a:ext cx="212601" cy="21260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56816" y="4231407"/>
            <a:ext cx="2138437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Identifying implemented capabilities</a:t>
            </a:r>
            <a:endParaRPr lang="en-US" sz="13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25564" y="4235797"/>
            <a:ext cx="212601" cy="21260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733130" y="4231407"/>
            <a:ext cx="2138437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Rebuilding end-to-end user journeys</a:t>
            </a:r>
            <a:endParaRPr lang="en-US" sz="13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101879" y="4235797"/>
            <a:ext cx="212601" cy="21260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509445" y="4231407"/>
            <a:ext cx="2138437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Detecting missing business logic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181919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Core Features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908423"/>
            <a:ext cx="1507480" cy="9316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3017267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Capability Intelligence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96119" y="3323779"/>
            <a:ext cx="2599134" cy="6378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Detects business capabilities such as Authentication, Payments, Booking, Inventory, Notifications, and Analytics.</a:t>
            </a:r>
            <a:endParaRPr lang="en-US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2433" y="1908423"/>
            <a:ext cx="1507480" cy="93166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272433" y="3017267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Journey Reconstruction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272433" y="3323779"/>
            <a:ext cx="2599134" cy="6378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Builds complete user journeys by connecting frontend, backend, APIs, and database relationships.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8747" y="1908423"/>
            <a:ext cx="1507480" cy="93166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048747" y="3017267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Logic Gap Detection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048747" y="3323779"/>
            <a:ext cx="2599134" cy="6378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Reasons about missing workflows such as password recovery, refunds, booking cancellation, or payment failure handling.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How It Works: The Reasoning Pipeline</a:t>
            </a:r>
            <a:endParaRPr lang="en-US" sz="13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682154"/>
            <a:ext cx="7315200" cy="411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4836765"/>
            <a:ext cx="8151763" cy="159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pipeline flows from repository upload through parsing and knowledge extraction into a project knowledge graph, then the Software Reasoning Engine delivers Capability Intelligence, Journey Reconstruction, and Logic Gap Detection — all surfaced in an Interactive Dashboard.</a:t>
            </a:r>
            <a:endParaRPr lang="en-US" sz="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06525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Who It's For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1733029"/>
            <a:ext cx="2622724" cy="1237357"/>
          </a:xfrm>
          <a:prstGeom prst="roundRect">
            <a:avLst>
              <a:gd name="adj" fmla="val 4812"/>
            </a:avLst>
          </a:prstGeom>
          <a:solidFill>
            <a:srgbClr val="D9EDF2"/>
          </a:solidFill>
          <a:ln w="4763">
            <a:solidFill>
              <a:srgbClr val="BFD3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2640" y="1879550"/>
            <a:ext cx="232968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Developers &amp; Architects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42640" y="2186062"/>
            <a:ext cx="2329681" cy="4252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Understand existing systems faster and make better design decisions.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60601" y="1733029"/>
            <a:ext cx="2622724" cy="1237357"/>
          </a:xfrm>
          <a:prstGeom prst="roundRect">
            <a:avLst>
              <a:gd name="adj" fmla="val 4812"/>
            </a:avLst>
          </a:prstGeom>
          <a:solidFill>
            <a:srgbClr val="D9EDF2"/>
          </a:solidFill>
          <a:ln w="4763">
            <a:solidFill>
              <a:srgbClr val="BFD3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07122" y="1879550"/>
            <a:ext cx="232968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Engineering Teams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407122" y="2186062"/>
            <a:ext cx="2329681" cy="6378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Reduce onboarding time, simplify maintenance, and improve software understanding across the team.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025083" y="1733029"/>
            <a:ext cx="2622724" cy="1237357"/>
          </a:xfrm>
          <a:prstGeom prst="roundRect">
            <a:avLst>
              <a:gd name="adj" fmla="val 4812"/>
            </a:avLst>
          </a:prstGeom>
          <a:solidFill>
            <a:srgbClr val="D9EDF2"/>
          </a:solidFill>
          <a:ln w="4763">
            <a:solidFill>
              <a:srgbClr val="BFD3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71605" y="1879550"/>
            <a:ext cx="232968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Startups &amp; Enterprises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171605" y="2186062"/>
            <a:ext cx="2329681" cy="6378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Identify missing business workflows early and accelerate modernization efforts.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96119" y="3112145"/>
            <a:ext cx="4004965" cy="1024756"/>
          </a:xfrm>
          <a:prstGeom prst="roundRect">
            <a:avLst>
              <a:gd name="adj" fmla="val 5810"/>
            </a:avLst>
          </a:prstGeom>
          <a:solidFill>
            <a:srgbClr val="D9EDF2"/>
          </a:solidFill>
          <a:ln w="4763">
            <a:solidFill>
              <a:srgbClr val="BFD3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2640" y="3258666"/>
            <a:ext cx="37119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Students &amp; Open Source Contributors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42640" y="3565178"/>
            <a:ext cx="3711922" cy="4252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Explore and contribute to unfamiliar codebases with confidence.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42842" y="3112145"/>
            <a:ext cx="4004965" cy="1024756"/>
          </a:xfrm>
          <a:prstGeom prst="roundRect">
            <a:avLst>
              <a:gd name="adj" fmla="val 5810"/>
            </a:avLst>
          </a:prstGeom>
          <a:solidFill>
            <a:srgbClr val="D9EDF2"/>
          </a:solidFill>
          <a:ln w="4763">
            <a:solidFill>
              <a:srgbClr val="BFD3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89363" y="3258666"/>
            <a:ext cx="37119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Legacy Modernization Teams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789363" y="3565178"/>
            <a:ext cx="3711922" cy="4252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Map undocumented systems and detect gaps before migration.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78334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Technology Stack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293391"/>
            <a:ext cx="1631305" cy="13226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3127" y="1454200"/>
            <a:ext cx="123348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Frontend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733127" y="1817415"/>
            <a:ext cx="1233488" cy="6378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Next.js, React, Tailwind CSS, React Flow</a:t>
            </a:r>
            <a:endParaRPr lang="en-US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69182" y="1293391"/>
            <a:ext cx="1631379" cy="132263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506191" y="1454200"/>
            <a:ext cx="123356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Backend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2506191" y="1817415"/>
            <a:ext cx="1233562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FastAPI (Python)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042321" y="1293391"/>
            <a:ext cx="1631379" cy="132263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279329" y="1454200"/>
            <a:ext cx="123356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Parsing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4279329" y="1817415"/>
            <a:ext cx="1233562" cy="6378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Tree-sitter, GitPython, Custom Repository Parser</a:t>
            </a:r>
            <a:endParaRPr lang="en-US" sz="11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6119" y="2757785"/>
            <a:ext cx="1631305" cy="1747837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33127" y="2918594"/>
            <a:ext cx="123348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AI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733127" y="3281809"/>
            <a:ext cx="1233488" cy="1063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OpenRouter API, GPT-5.5 / Claude Sonnet, Custom Software Reasoning Pipeline</a:t>
            </a:r>
            <a:endParaRPr lang="en-US" sz="11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269182" y="2757785"/>
            <a:ext cx="1631379" cy="1747837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2506191" y="2918594"/>
            <a:ext cx="123356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Database</a:t>
            </a:r>
            <a:endParaRPr lang="en-US" sz="1350" dirty="0"/>
          </a:p>
        </p:txBody>
      </p:sp>
      <p:sp>
        <p:nvSpPr>
          <p:cNvPr id="17" name="Text 10"/>
          <p:cNvSpPr/>
          <p:nvPr/>
        </p:nvSpPr>
        <p:spPr>
          <a:xfrm>
            <a:off x="2506191" y="3281809"/>
            <a:ext cx="1233562" cy="4252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Supabase (PostgreSQL)</a:t>
            </a:r>
            <a:endParaRPr lang="en-US" sz="11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24339" y="1585392"/>
            <a:ext cx="2628230" cy="262823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40891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Sample Output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667396"/>
            <a:ext cx="8608963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Example analysis of an </a:t>
            </a:r>
            <a:pPr algn="l"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384653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E-Commerce Platform</a:t>
            </a:r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uploaded to CodeAtlas: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96119" y="2039466"/>
            <a:ext cx="8151763" cy="1578471"/>
          </a:xfrm>
          <a:prstGeom prst="roundRect">
            <a:avLst>
              <a:gd name="adj" fmla="val 3772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0881" y="2044229"/>
            <a:ext cx="8142238" cy="39223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42714" y="2134046"/>
            <a:ext cx="2206823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384653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Detected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680618" y="2134046"/>
            <a:ext cx="6277942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E-Commerce Platform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0881" y="2436465"/>
            <a:ext cx="8142238" cy="39223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642714" y="2526283"/>
            <a:ext cx="2206823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384653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Capabilities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680618" y="2526283"/>
            <a:ext cx="6277942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Authentication, Cart, Checkout, Payments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0881" y="2828702"/>
            <a:ext cx="8142238" cy="39223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642714" y="2918520"/>
            <a:ext cx="2206823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384653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Journey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680618" y="2918520"/>
            <a:ext cx="6277942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Login → Browse → Cart → Checkout → Payment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0881" y="3220938"/>
            <a:ext cx="8142238" cy="39223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42714" y="3310756"/>
            <a:ext cx="2206823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384653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Logic Gaps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680618" y="3310756"/>
            <a:ext cx="6277942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Refund Workflow Missing; Password Recovery Missing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6119" y="3777407"/>
            <a:ext cx="8151763" cy="4252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CodeAtlas identifies implemented capabilities, reconstructs the end-to-end user journey, and detects missing business workflows — giving teams immediate insight into what the software does and what is absent.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00450" cy="5143500"/>
          </a:xfrm>
          <a:prstGeom prst="rect">
            <a:avLst/>
          </a:prstGeom>
          <a:solidFill>
            <a:srgbClr val="D9EDF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494" y="814983"/>
            <a:ext cx="2635151" cy="351353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25119" y="515317"/>
            <a:ext cx="4722763" cy="422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Expected Impact</a:t>
            </a:r>
            <a:endParaRPr lang="en-US" sz="26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25119" y="1130796"/>
            <a:ext cx="270197" cy="270197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356274" y="1177230"/>
            <a:ext cx="4291608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Faster Onboarding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4356274" y="1465585"/>
            <a:ext cx="4291608" cy="3958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Reduce onboarding time by reconstructing system architecture automatically.</a:t>
            </a:r>
            <a:endParaRPr lang="en-US" sz="10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25119" y="2119015"/>
            <a:ext cx="270197" cy="270197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356274" y="2165449"/>
            <a:ext cx="4291608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Simplified Maintenance</a:t>
            </a:r>
            <a:endParaRPr lang="en-US" sz="1300" dirty="0"/>
          </a:p>
        </p:txBody>
      </p:sp>
      <p:sp>
        <p:nvSpPr>
          <p:cNvPr id="10" name="Text 5"/>
          <p:cNvSpPr/>
          <p:nvPr/>
        </p:nvSpPr>
        <p:spPr>
          <a:xfrm>
            <a:off x="4356274" y="2453804"/>
            <a:ext cx="4291608" cy="3958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Improve software understanding and simplify ongoing maintenance tasks.</a:t>
            </a:r>
            <a:endParaRPr lang="en-US" sz="10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25119" y="3107234"/>
            <a:ext cx="270197" cy="270197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356274" y="3153668"/>
            <a:ext cx="4291608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Early Gap Detection</a:t>
            </a:r>
            <a:endParaRPr lang="en-US" sz="1300" dirty="0"/>
          </a:p>
        </p:txBody>
      </p:sp>
      <p:sp>
        <p:nvSpPr>
          <p:cNvPr id="13" name="Text 7"/>
          <p:cNvSpPr/>
          <p:nvPr/>
        </p:nvSpPr>
        <p:spPr>
          <a:xfrm>
            <a:off x="4356274" y="3442022"/>
            <a:ext cx="4291608" cy="197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Identify missing business workflows early in the development lifecycle.</a:t>
            </a:r>
            <a:endParaRPr lang="en-US" sz="105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925119" y="3897511"/>
            <a:ext cx="270197" cy="270197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4356274" y="3943945"/>
            <a:ext cx="4291608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Accelerated Modernization</a:t>
            </a:r>
            <a:endParaRPr lang="en-US" sz="1300" dirty="0"/>
          </a:p>
        </p:txBody>
      </p:sp>
      <p:sp>
        <p:nvSpPr>
          <p:cNvPr id="16" name="Text 9"/>
          <p:cNvSpPr/>
          <p:nvPr/>
        </p:nvSpPr>
        <p:spPr>
          <a:xfrm>
            <a:off x="4356274" y="4232300"/>
            <a:ext cx="4291608" cy="3958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Accelerate modernization of legacy systems with clear architectural insight.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18542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Future Scope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585392"/>
            <a:ext cx="2628230" cy="262823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474988" y="1501676"/>
            <a:ext cx="5177582" cy="4252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CodeAtlas lays the foundation for a broader </a:t>
            </a:r>
            <a:pPr algn="l"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384653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enterprise software intelligence platform</a:t>
            </a:r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474988" y="2086347"/>
            <a:ext cx="318939" cy="318939"/>
          </a:xfrm>
          <a:prstGeom prst="roundRect">
            <a:avLst>
              <a:gd name="adj" fmla="val 18669"/>
            </a:avLst>
          </a:prstGeom>
          <a:solidFill>
            <a:srgbClr val="D9EDF2"/>
          </a:solidFill>
          <a:ln w="4763">
            <a:solidFill>
              <a:srgbClr val="BFD3D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528157" y="2112913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1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3935685" y="2135014"/>
            <a:ext cx="2039466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Enterprise Software Intelligence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3935685" y="2719685"/>
            <a:ext cx="2039466" cy="4252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Architecture reviews and cross-repository reasoning at scale.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152331" y="2086347"/>
            <a:ext cx="318939" cy="318939"/>
          </a:xfrm>
          <a:prstGeom prst="roundRect">
            <a:avLst>
              <a:gd name="adj" fmla="val 18669"/>
            </a:avLst>
          </a:prstGeom>
          <a:solidFill>
            <a:srgbClr val="D9EDF2"/>
          </a:solidFill>
          <a:ln w="4763">
            <a:solidFill>
              <a:srgbClr val="BFD3D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05500" y="2112913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2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6613029" y="2135014"/>
            <a:ext cx="2039541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Due Diligence &amp; Compliance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613029" y="2719685"/>
            <a:ext cx="2039541" cy="6378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Analyze software for acquisition readiness and regulatory compliance.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474988" y="3641006"/>
            <a:ext cx="318939" cy="318939"/>
          </a:xfrm>
          <a:prstGeom prst="roundRect">
            <a:avLst>
              <a:gd name="adj" fmla="val 18669"/>
            </a:avLst>
          </a:prstGeom>
          <a:solidFill>
            <a:srgbClr val="D9EDF2"/>
          </a:solidFill>
          <a:ln w="4763">
            <a:solidFill>
              <a:srgbClr val="BFD3D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528157" y="3667571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3</a:t>
            </a:r>
            <a:endParaRPr lang="en-US" sz="1650" dirty="0"/>
          </a:p>
        </p:txBody>
      </p:sp>
      <p:sp>
        <p:nvSpPr>
          <p:cNvPr id="15" name="Text 12"/>
          <p:cNvSpPr/>
          <p:nvPr/>
        </p:nvSpPr>
        <p:spPr>
          <a:xfrm>
            <a:off x="3935685" y="3689672"/>
            <a:ext cx="471688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Engineering Intelligence Dashboards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3935685" y="4052887"/>
            <a:ext cx="4716884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Real-time visibility into system health, gaps, and evolution.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2026-07-29T14:45:41Z</dcterms:created>
  <dcterms:modified xsi:type="dcterms:W3CDTF">2026-07-29T14:45:41Z</dcterms:modified>
</cp:coreProperties>
</file>